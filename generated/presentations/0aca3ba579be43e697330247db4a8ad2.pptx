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23960" y="-457200"/>
            <a:ext cx="4023360" cy="40233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4080" y="3794760"/>
            <a:ext cx="2834640" cy="2834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91440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498079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Artificial Intelligence: Transforming Modern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6858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B7B2C5"/>
                </a:solidFill>
                <a:latin typeface="Aptos"/>
              </a:rPr>
              <a:t>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855F7"/>
                </a:solidFill>
                <a:latin typeface="Aptos"/>
              </a:rPr>
              <a:t>AI-GENERATED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Evolution of AI in the Business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68580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1783080"/>
            <a:ext cx="45720" cy="181965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27048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From rule‑based systems in the 1980s to deep learning breakthroughs after 2012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04288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76856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Enterprise AI spending grew from $1.5 B in 2015 to over $70 B in 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54096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26664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Adoption accelerated as cloud platforms offered scalable compute and pre‑built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7B2C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Fundamental AI Concepts for Business Leaders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68580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1783080"/>
            <a:ext cx="45720" cy="181965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27048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Machine learning enables systems to improve predictions from historical data without explicit programming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04288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76856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Neural networks model complex patterns, powering image recognition and natural language understanding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54096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26664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Natural language processing translates unstructured text into actionable insights for customer sentiment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7B2C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Core AI Technologies Shaping Enterprise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68580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1783080"/>
            <a:ext cx="45720" cy="25694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27048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Cloud AI services provide APIs for vision, speech, translation, and predictive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04288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76856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Edge AI processes data locally, reducing latency for real‑time manufacturing quality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54096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26664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AutoML platforms automate model selection, allowing non‑data scientists to deploy solutions quickly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03904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0390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76472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AI‑driven data pipelines integrate disparate sources, ensuring clean, labeled datasets for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7B2C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High‑Impact Business Applications of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68580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7"/>
            <a:ext cx="48920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Predictive maintenance reduces equipment downtime by up to 30% in heavy‑industry plants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64991"/>
            <a:ext cx="4754880" cy="32004"/>
          </a:xfrm>
          <a:prstGeom prst="rect">
            <a:avLst/>
          </a:prstGeom>
          <a:solidFill>
            <a:srgbClr val="21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554480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2029967"/>
            <a:ext cx="48920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Personalized recommendation engines increase e‑commerce conversion rates by an average of 15%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64991"/>
            <a:ext cx="4754880" cy="32004"/>
          </a:xfrm>
          <a:prstGeom prst="rect">
            <a:avLst/>
          </a:prstGeom>
          <a:solidFill>
            <a:srgbClr val="21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78808"/>
            <a:ext cx="48920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Intelligent chatbots handle routine inquiries, freeing human agents for complex problem solving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13831"/>
            <a:ext cx="4754880" cy="32004"/>
          </a:xfrm>
          <a:prstGeom prst="rect">
            <a:avLst/>
          </a:prstGeom>
          <a:solidFill>
            <a:srgbClr val="21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3703320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4178808"/>
            <a:ext cx="48920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Fraud detection models analyze transaction patterns, cutting financial losses by up to 40%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5513831"/>
            <a:ext cx="4754880" cy="32004"/>
          </a:xfrm>
          <a:prstGeom prst="rect">
            <a:avLst/>
          </a:prstGeom>
          <a:solidFill>
            <a:srgbClr val="21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7B2C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