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551D9"/>
            </a:solidFill>
          </c:spPr>
          <c:cat>
            <c:strRef>
              <c:f>Sheet1!$A$2:$A$4</c:f>
              <c:strCache>
                <c:ptCount val="3"/>
                <c:pt idx="0">
                  <c:v>Global AI Market Size (Billion USD)</c:v>
                </c:pt>
                <c:pt idx="1">
                  <c:v>Business Investment Rate (%)</c:v>
                </c:pt>
                <c:pt idx="2">
                  <c:v>Economic Contribution by 2030 (Trillion USD)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196.63</c:v>
                </c:pt>
                <c:pt idx="1">
                  <c:v>91.5</c:v>
                </c:pt>
                <c:pt idx="2">
                  <c:v>15.7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to AI's transformative role in modern business operations and strategy. Set the stage for discussing practical applications and organizational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rapid acceleration of AI adoption across industries and the shift toward data-driven operations. Emphasize that AI is no longer experimental but operational.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key metrics to demonstrate the scale of AI investment and projected economic impact. Note that these figures represent conservative estimates from leading research 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phased approach to AI deployment, emphasizing governance and change management. Highlight that successful implementation requires both technical and cultural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the key research reports and studies that inform these findings. Encourage questions about specific data points or implementation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728655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 i="0">
                <a:solidFill>
                  <a:srgbClr val="171B21"/>
                </a:solidFill>
                <a:latin typeface="Calibri"/>
              </a:rPr>
              <a:t>Artificial Intelligence in Business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5B6472"/>
                </a:solidFill>
                <a:latin typeface="Calibri"/>
              </a:rPr>
              <a:t>Strategic Opportunities and Implementation Pathways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Current AI Adoption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8585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71B21"/>
                </a:solidFill>
                <a:latin typeface="Calibri"/>
              </a:rPr>
              <a:t>35% of enterprises deploy AI in production environments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71B21"/>
                </a:solidFill>
                <a:latin typeface="Calibri"/>
              </a:rPr>
              <a:t>Customer service and operations lead adoption rates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71B21"/>
                </a:solidFill>
                <a:latin typeface="Calibri"/>
              </a:rPr>
              <a:t>Data-driven decision making becomes organizational standard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71B21"/>
                </a:solidFill>
                <a:latin typeface="Calibri"/>
              </a:rPr>
              <a:t>AI automates routine tasks across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Artificial Intelligence in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02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AI Market Impact Metrics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554480"/>
          <a:ext cx="1118585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Artificial Intelligence in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03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Strategic AI 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33420"/>
            <a:ext cx="10728655" cy="254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74320" y="3657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Assess organizational readiness and data infrastructure</a:t>
            </a:r>
          </a:p>
        </p:txBody>
      </p:sp>
      <p:sp>
        <p:nvSpPr>
          <p:cNvPr id="6" name="Oval 5"/>
          <p:cNvSpPr/>
          <p:nvPr/>
        </p:nvSpPr>
        <p:spPr>
          <a:xfrm>
            <a:off x="3185083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7843" y="19202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Identify high-impact use cases and launch pilots</a:t>
            </a:r>
          </a:p>
        </p:txBody>
      </p:sp>
      <p:sp>
        <p:nvSpPr>
          <p:cNvPr id="8" name="Oval 7"/>
          <p:cNvSpPr/>
          <p:nvPr/>
        </p:nvSpPr>
        <p:spPr>
          <a:xfrm>
            <a:off x="5867247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0007" y="3657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Develop governance frameworks and ethical guidelines</a:t>
            </a:r>
          </a:p>
        </p:txBody>
      </p:sp>
      <p:sp>
        <p:nvSpPr>
          <p:cNvPr id="10" name="Oval 9"/>
          <p:cNvSpPr/>
          <p:nvPr/>
        </p:nvSpPr>
        <p:spPr>
          <a:xfrm>
            <a:off x="8549411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171" y="19202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Scale successful implementations across departments</a:t>
            </a:r>
          </a:p>
        </p:txBody>
      </p:sp>
      <p:sp>
        <p:nvSpPr>
          <p:cNvPr id="12" name="Oval 11"/>
          <p:cNvSpPr/>
          <p:nvPr/>
        </p:nvSpPr>
        <p:spPr>
          <a:xfrm>
            <a:off x="11231575" y="3017520"/>
            <a:ext cx="457200" cy="457200"/>
          </a:xfrm>
          <a:prstGeom prst="ellipse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3657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1B21"/>
                </a:solidFill>
                <a:latin typeface="Calibri"/>
              </a:rPr>
              <a:t>Train workforce and establish continuous improvement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Artificial Intelligence in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04 /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8585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IBM Global AI Adoption Index â€” IBM Research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PwC AI Economic Impact Report â€” PwC Global AI Study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McKinsey AI Business Survey â€” McKinsey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Artificial Intelligence in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05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