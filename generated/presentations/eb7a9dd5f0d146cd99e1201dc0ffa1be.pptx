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we'll explore how Artificial Intelligence is not just a technological trend, but a fundamental driver of business transformation. We'll delve into its core concepts, practical applications, and the strategic considerations for successful implementation in your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by demystifying AI. It's more than just robots; it's a broad field of computer science focused on creating intelligent machines. At its heart, AI allows systems to learn from data, adapt to new inputs, and execute tasks that once demanded human cognitive abilities. This foundational understanding is crucial for appreciating its business potential.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offers a vast array of practical applications that translate directly into tangible business benefits. From automating mundane tasks to revolutionizing customer interactions and supply chain management, AI can streamline operations, reduce costs, and provide invaluable insights. These applications ultimately lead to increased productivity, enhanced customer loyalty, and a stronger competitive edge.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opportunities are immense, successful AI adoption requires careful consideration of potential challenges. Data privacy and security must be a top priority, and we must actively work to prevent and mitigate algorithmic bias to ensure fair outcomes. Furthermore, preparing our workforce for a future alongside AI, understanding evolving regulations, and managing integration with existing systems are crucial steps for responsible and effective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AI is not a fleeting trend but a transformative force that will continue to reshape the business landscape. Strategic and responsible adoption is imperative for long-term success. By prioritizing ethical development, fostering human-AI collaboration, and embracing continuous innovation, businesses can harness AI's full potential to thrive in the years to come.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5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728655" cy="1828800"/>
          </a:xfrm>
          <a:prstGeom prst="rect">
            <a:avLst/>
          </a:prstGeom>
          <a:noFill/>
        </p:spPr>
        <p:txBody>
          <a:bodyPr wrap="square" anchor="ctr" lIns="0" rIns="0" tIns="0" bIns="0">
            <a:spAutoFit/>
          </a:bodyPr>
          <a:lstStyle/>
          <a:p>
            <a:r>
              <a:rPr sz="4000" b="1" i="0">
                <a:solidFill>
                  <a:srgbClr val="171B21"/>
                </a:solidFill>
                <a:latin typeface="Calibri"/>
              </a:rPr>
              <a:t>Artificial Intelligence: Driving Business Transformation</a:t>
            </a:r>
          </a:p>
          <a:p>
            <a:pPr>
              <a:spcBef>
                <a:spcPts val="1400"/>
              </a:spcBef>
            </a:pPr>
            <a:r>
              <a:rPr sz="1800" b="0" i="0">
                <a:solidFill>
                  <a:srgbClr val="5B6472"/>
                </a:solidFill>
                <a:latin typeface="Calibri"/>
              </a:rPr>
              <a:t>Unlocking New Frontiers of Efficiency and Innovation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551D9"/>
        </a:solidFill>
        <a:effectLst/>
      </p:bgPr>
    </p:bg>
    <p:spTree>
      <p:nvGrpSpPr>
        <p:cNvPr id="1" name=""/>
        <p:cNvGrpSpPr/>
        <p:nvPr/>
      </p:nvGrpSpPr>
      <p:grpSpPr/>
      <p:sp>
        <p:nvSpPr>
          <p:cNvPr id="2" name="TextBox 1"/>
          <p:cNvSpPr txBox="1"/>
          <p:nvPr/>
        </p:nvSpPr>
        <p:spPr>
          <a:xfrm>
            <a:off x="914400" y="2743200"/>
            <a:ext cx="10362895" cy="1371600"/>
          </a:xfrm>
          <a:prstGeom prst="rect">
            <a:avLst/>
          </a:prstGeom>
          <a:noFill/>
        </p:spPr>
        <p:txBody>
          <a:bodyPr wrap="square" anchor="ctr" lIns="0" rIns="0" tIns="0" bIns="0">
            <a:spAutoFit/>
          </a:bodyPr>
          <a:lstStyle/>
          <a:p>
            <a:r>
              <a:rPr sz="3800" b="1" i="0">
                <a:solidFill>
                  <a:srgbClr val="FFFFFF"/>
                </a:solidFill>
                <a:latin typeface="Calibri"/>
              </a:rPr>
              <a:t>Understanding Artificial Intelligence</a:t>
            </a:r>
          </a:p>
          <a:p>
            <a:pPr>
              <a:spcBef>
                <a:spcPts val="1000"/>
              </a:spcBef>
            </a:pPr>
            <a:r>
              <a:rPr sz="1700" b="0" i="0">
                <a:solidFill>
                  <a:srgbClr val="F2F4F8"/>
                </a:solidFill>
                <a:latin typeface="Calibri"/>
              </a:rPr>
              <a:t>Beyond the Buzzword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5855" cy="822960"/>
          </a:xfrm>
          <a:prstGeom prst="rect">
            <a:avLst/>
          </a:prstGeom>
          <a:noFill/>
        </p:spPr>
        <p:txBody>
          <a:bodyPr wrap="square" anchor="t" lIns="0" rIns="0" tIns="0" bIns="0">
            <a:spAutoFit/>
          </a:bodyPr>
          <a:lstStyle/>
          <a:p>
            <a:r>
              <a:rPr sz="2800" b="1" i="0">
                <a:solidFill>
                  <a:srgbClr val="171B21"/>
                </a:solidFill>
                <a:latin typeface="Calibri"/>
              </a:rPr>
              <a:t>AI in Business: Applications &amp; Benefits</a:t>
            </a:r>
          </a:p>
        </p:txBody>
      </p:sp>
      <p:sp>
        <p:nvSpPr>
          <p:cNvPr id="3" name="Rounded Rectangle 2"/>
          <p:cNvSpPr/>
          <p:nvPr/>
        </p:nvSpPr>
        <p:spPr>
          <a:xfrm>
            <a:off x="502920" y="1554480"/>
            <a:ext cx="5455767" cy="475488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83080"/>
            <a:ext cx="4998567" cy="4297680"/>
          </a:xfrm>
          <a:prstGeom prst="rect">
            <a:avLst/>
          </a:prstGeom>
          <a:noFill/>
        </p:spPr>
        <p:txBody>
          <a:bodyPr wrap="square" anchor="t" lIns="0" rIns="0" tIns="0" bIns="0">
            <a:spAutoFit/>
          </a:bodyPr>
          <a:lstStyle/>
          <a:p>
            <a:pPr>
              <a:spcAft>
                <a:spcPts val="1200"/>
              </a:spcAft>
            </a:pPr>
            <a:r>
              <a:rPr sz="1400" b="1" i="0">
                <a:solidFill>
                  <a:srgbClr val="2551D9"/>
                </a:solidFill>
                <a:latin typeface="Calibri"/>
              </a:rPr>
              <a:t>•  </a:t>
            </a:r>
            <a:r>
              <a:rPr sz="1400" b="0" i="0">
                <a:solidFill>
                  <a:srgbClr val="171B21"/>
                </a:solidFill>
                <a:latin typeface="Calibri"/>
              </a:rPr>
              <a:t>Automating repetitive tasks to increase operational efficiency.</a:t>
            </a:r>
          </a:p>
          <a:p>
            <a:pPr>
              <a:spcAft>
                <a:spcPts val="1200"/>
              </a:spcAft>
            </a:pPr>
            <a:r>
              <a:rPr sz="1400" b="1" i="0">
                <a:solidFill>
                  <a:srgbClr val="2551D9"/>
                </a:solidFill>
                <a:latin typeface="Calibri"/>
              </a:rPr>
              <a:t>•  </a:t>
            </a:r>
            <a:r>
              <a:rPr sz="1400" b="0" i="0">
                <a:solidFill>
                  <a:srgbClr val="171B21"/>
                </a:solidFill>
                <a:latin typeface="Calibri"/>
              </a:rPr>
              <a:t>Enhancing customer service through chatbots and personalized experiences.</a:t>
            </a:r>
          </a:p>
          <a:p>
            <a:pPr>
              <a:spcAft>
                <a:spcPts val="1200"/>
              </a:spcAft>
            </a:pPr>
            <a:r>
              <a:rPr sz="1400" b="1" i="0">
                <a:solidFill>
                  <a:srgbClr val="2551D9"/>
                </a:solidFill>
                <a:latin typeface="Calibri"/>
              </a:rPr>
              <a:t>•  </a:t>
            </a:r>
            <a:r>
              <a:rPr sz="1400" b="0" i="0">
                <a:solidFill>
                  <a:srgbClr val="171B21"/>
                </a:solidFill>
                <a:latin typeface="Calibri"/>
              </a:rPr>
              <a:t>Optimizing supply chains and logistics with predictive analytics.</a:t>
            </a:r>
          </a:p>
          <a:p>
            <a:pPr>
              <a:spcAft>
                <a:spcPts val="1200"/>
              </a:spcAft>
            </a:pPr>
            <a:r>
              <a:rPr sz="1400" b="1" i="0">
                <a:solidFill>
                  <a:srgbClr val="2551D9"/>
                </a:solidFill>
                <a:latin typeface="Calibri"/>
              </a:rPr>
              <a:t>•  </a:t>
            </a:r>
            <a:r>
              <a:rPr sz="1400" b="0" i="0">
                <a:solidFill>
                  <a:srgbClr val="171B21"/>
                </a:solidFill>
                <a:latin typeface="Calibri"/>
              </a:rPr>
              <a:t>Driving data-driven insights for strategic decision-making.</a:t>
            </a:r>
          </a:p>
        </p:txBody>
      </p:sp>
      <p:sp>
        <p:nvSpPr>
          <p:cNvPr id="5" name="Rounded Rectangle 4"/>
          <p:cNvSpPr/>
          <p:nvPr/>
        </p:nvSpPr>
        <p:spPr>
          <a:xfrm>
            <a:off x="6233007" y="1554480"/>
            <a:ext cx="5455767" cy="475488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61607" y="1783080"/>
            <a:ext cx="4998567" cy="4297680"/>
          </a:xfrm>
          <a:prstGeom prst="rect">
            <a:avLst/>
          </a:prstGeom>
          <a:noFill/>
        </p:spPr>
        <p:txBody>
          <a:bodyPr wrap="square" anchor="t" lIns="0" rIns="0" tIns="0" bIns="0">
            <a:spAutoFit/>
          </a:bodyPr>
          <a:lstStyle/>
          <a:p>
            <a:pPr>
              <a:spcAft>
                <a:spcPts val="1200"/>
              </a:spcAft>
            </a:pPr>
            <a:r>
              <a:rPr sz="1400" b="1" i="0">
                <a:solidFill>
                  <a:srgbClr val="2551D9"/>
                </a:solidFill>
                <a:latin typeface="Calibri"/>
              </a:rPr>
              <a:t>•  </a:t>
            </a:r>
            <a:r>
              <a:rPr sz="1400" b="0" i="0">
                <a:solidFill>
                  <a:srgbClr val="171B21"/>
                </a:solidFill>
                <a:latin typeface="Calibri"/>
              </a:rPr>
              <a:t>Significant cost reductions and improved resource allocation.</a:t>
            </a:r>
          </a:p>
          <a:p>
            <a:pPr>
              <a:spcAft>
                <a:spcPts val="1200"/>
              </a:spcAft>
            </a:pPr>
            <a:r>
              <a:rPr sz="1400" b="1" i="0">
                <a:solidFill>
                  <a:srgbClr val="2551D9"/>
                </a:solidFill>
                <a:latin typeface="Calibri"/>
              </a:rPr>
              <a:t>•  </a:t>
            </a:r>
            <a:r>
              <a:rPr sz="1400" b="0" i="0">
                <a:solidFill>
                  <a:srgbClr val="171B21"/>
                </a:solidFill>
                <a:latin typeface="Calibri"/>
              </a:rPr>
              <a:t>Increased productivity and faster time-to-market.</a:t>
            </a:r>
          </a:p>
          <a:p>
            <a:pPr>
              <a:spcAft>
                <a:spcPts val="1200"/>
              </a:spcAft>
            </a:pPr>
            <a:r>
              <a:rPr sz="1400" b="1" i="0">
                <a:solidFill>
                  <a:srgbClr val="2551D9"/>
                </a:solidFill>
                <a:latin typeface="Calibri"/>
              </a:rPr>
              <a:t>•  </a:t>
            </a:r>
            <a:r>
              <a:rPr sz="1400" b="0" i="0">
                <a:solidFill>
                  <a:srgbClr val="171B21"/>
                </a:solidFill>
                <a:latin typeface="Calibri"/>
              </a:rPr>
              <a:t>Superior customer satisfaction and loyalty.</a:t>
            </a:r>
          </a:p>
          <a:p>
            <a:pPr>
              <a:spcAft>
                <a:spcPts val="1200"/>
              </a:spcAft>
            </a:pPr>
            <a:r>
              <a:rPr sz="1400" b="1" i="0">
                <a:solidFill>
                  <a:srgbClr val="2551D9"/>
                </a:solidFill>
                <a:latin typeface="Calibri"/>
              </a:rPr>
              <a:t>•  </a:t>
            </a:r>
            <a:r>
              <a:rPr sz="1400" b="0" i="0">
                <a:solidFill>
                  <a:srgbClr val="171B21"/>
                </a:solidFill>
                <a:latin typeface="Calibri"/>
              </a:rPr>
              <a:t>Competitive advantage through innovation and agility.</a:t>
            </a:r>
          </a:p>
        </p:txBody>
      </p:sp>
      <p:sp>
        <p:nvSpPr>
          <p:cNvPr id="7" name="TextBox 6"/>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B6472"/>
                </a:solidFill>
                <a:latin typeface="Calibri"/>
              </a:rPr>
              <a:t>Artificial Intelligence: Driving Business Transformation</a:t>
            </a:r>
          </a:p>
        </p:txBody>
      </p:sp>
      <p:sp>
        <p:nvSpPr>
          <p:cNvPr id="8" name="TextBox 7"/>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B6472"/>
                </a:solidFill>
                <a:latin typeface="Calibri"/>
              </a:rPr>
              <a:t>03 / 05</a:t>
            </a:r>
          </a:p>
        </p:txBody>
      </p:sp>
      <p:sp>
        <p:nvSpPr>
          <p:cNvPr id="9" name="Rectangle 8"/>
          <p:cNvSpPr/>
          <p:nvPr/>
        </p:nvSpPr>
        <p:spPr>
          <a:xfrm>
            <a:off x="502920" y="6355080"/>
            <a:ext cx="11185855" cy="127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5855" cy="822960"/>
          </a:xfrm>
          <a:prstGeom prst="rect">
            <a:avLst/>
          </a:prstGeom>
          <a:noFill/>
        </p:spPr>
        <p:txBody>
          <a:bodyPr wrap="square" anchor="t" lIns="0" rIns="0" tIns="0" bIns="0">
            <a:spAutoFit/>
          </a:bodyPr>
          <a:lstStyle/>
          <a:p>
            <a:r>
              <a:rPr sz="2800" b="1" i="0">
                <a:solidFill>
                  <a:srgbClr val="171B21"/>
                </a:solidFill>
                <a:latin typeface="Calibri"/>
              </a:rPr>
              <a:t>Navigating AI Challenges &amp; Ethics</a:t>
            </a:r>
          </a:p>
        </p:txBody>
      </p:sp>
      <p:sp>
        <p:nvSpPr>
          <p:cNvPr id="3" name="TextBox 2"/>
          <p:cNvSpPr txBox="1"/>
          <p:nvPr/>
        </p:nvSpPr>
        <p:spPr>
          <a:xfrm>
            <a:off x="502920" y="1463040"/>
            <a:ext cx="11185855" cy="4846320"/>
          </a:xfrm>
          <a:prstGeom prst="rect">
            <a:avLst/>
          </a:prstGeom>
          <a:noFill/>
        </p:spPr>
        <p:txBody>
          <a:bodyPr wrap="square" anchor="t" lIns="0" rIns="0" tIns="0" bIns="0">
            <a:spAutoFit/>
          </a:bodyPr>
          <a:lstStyle/>
          <a:p>
            <a:pPr>
              <a:spcAft>
                <a:spcPts val="1200"/>
              </a:spcAft>
            </a:pPr>
            <a:r>
              <a:rPr sz="1600" b="1" i="0">
                <a:solidFill>
                  <a:srgbClr val="2551D9"/>
                </a:solidFill>
                <a:latin typeface="Calibri"/>
              </a:rPr>
              <a:t>•  </a:t>
            </a:r>
            <a:r>
              <a:rPr sz="1600" b="0" i="0">
                <a:solidFill>
                  <a:srgbClr val="171B21"/>
                </a:solidFill>
                <a:latin typeface="Calibri"/>
              </a:rPr>
              <a:t>Data privacy and security are paramount concerns for AI implementation.</a:t>
            </a:r>
          </a:p>
          <a:p>
            <a:pPr>
              <a:spcAft>
                <a:spcPts val="1200"/>
              </a:spcAft>
            </a:pPr>
            <a:r>
              <a:rPr sz="1600" b="1" i="0">
                <a:solidFill>
                  <a:srgbClr val="2551D9"/>
                </a:solidFill>
                <a:latin typeface="Calibri"/>
              </a:rPr>
              <a:t>•  </a:t>
            </a:r>
            <a:r>
              <a:rPr sz="1600" b="0" i="0">
                <a:solidFill>
                  <a:srgbClr val="171B21"/>
                </a:solidFill>
                <a:latin typeface="Calibri"/>
              </a:rPr>
              <a:t>Ensuring algorithmic fairness and mitigating bias is critical for trust.</a:t>
            </a:r>
          </a:p>
          <a:p>
            <a:pPr>
              <a:spcAft>
                <a:spcPts val="1200"/>
              </a:spcAft>
            </a:pPr>
            <a:r>
              <a:rPr sz="1600" b="1" i="0">
                <a:solidFill>
                  <a:srgbClr val="2551D9"/>
                </a:solidFill>
                <a:latin typeface="Calibri"/>
              </a:rPr>
              <a:t>•  </a:t>
            </a:r>
            <a:r>
              <a:rPr sz="1600" b="0" i="0">
                <a:solidFill>
                  <a:srgbClr val="171B21"/>
                </a:solidFill>
                <a:latin typeface="Calibri"/>
              </a:rPr>
              <a:t>Workforce adaptation requires upskilling and reskilling strategies.</a:t>
            </a:r>
          </a:p>
          <a:p>
            <a:pPr>
              <a:spcAft>
                <a:spcPts val="1200"/>
              </a:spcAft>
            </a:pPr>
            <a:r>
              <a:rPr sz="1600" b="1" i="0">
                <a:solidFill>
                  <a:srgbClr val="2551D9"/>
                </a:solidFill>
                <a:latin typeface="Calibri"/>
              </a:rPr>
              <a:t>•  </a:t>
            </a:r>
            <a:r>
              <a:rPr sz="1600" b="0" i="0">
                <a:solidFill>
                  <a:srgbClr val="171B21"/>
                </a:solidFill>
                <a:latin typeface="Calibri"/>
              </a:rPr>
              <a:t>Regulatory landscapes for AI are still emerging and evolving globally.</a:t>
            </a:r>
          </a:p>
          <a:p>
            <a:pPr>
              <a:spcAft>
                <a:spcPts val="1200"/>
              </a:spcAft>
            </a:pPr>
            <a:r>
              <a:rPr sz="1600" b="1" i="0">
                <a:solidFill>
                  <a:srgbClr val="2551D9"/>
                </a:solidFill>
                <a:latin typeface="Calibri"/>
              </a:rPr>
              <a:t>•  </a:t>
            </a:r>
            <a:r>
              <a:rPr sz="1600" b="0" i="0">
                <a:solidFill>
                  <a:srgbClr val="171B21"/>
                </a:solidFill>
                <a:latin typeface="Calibri"/>
              </a:rPr>
              <a:t>Integration complexities can arise with existing legacy systems.</a:t>
            </a:r>
          </a:p>
        </p:txBody>
      </p:sp>
      <p:sp>
        <p:nvSpPr>
          <p:cNvPr id="4" name="TextBox 3"/>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B6472"/>
                </a:solidFill>
                <a:latin typeface="Calibri"/>
              </a:rPr>
              <a:t>Artificial Intelligence: Driving Business Transformation</a:t>
            </a:r>
          </a:p>
        </p:txBody>
      </p:sp>
      <p:sp>
        <p:nvSpPr>
          <p:cNvPr id="5" name="TextBox 4"/>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B6472"/>
                </a:solidFill>
                <a:latin typeface="Calibri"/>
              </a:rPr>
              <a:t>04 / 05</a:t>
            </a:r>
          </a:p>
        </p:txBody>
      </p:sp>
      <p:sp>
        <p:nvSpPr>
          <p:cNvPr id="6" name="Rectangle 5"/>
          <p:cNvSpPr/>
          <p:nvPr/>
        </p:nvSpPr>
        <p:spPr>
          <a:xfrm>
            <a:off x="502920" y="6355080"/>
            <a:ext cx="11185855" cy="127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5855" cy="822960"/>
          </a:xfrm>
          <a:prstGeom prst="rect">
            <a:avLst/>
          </a:prstGeom>
          <a:noFill/>
        </p:spPr>
        <p:txBody>
          <a:bodyPr wrap="square" anchor="t" lIns="0" rIns="0" tIns="0" bIns="0">
            <a:spAutoFit/>
          </a:bodyPr>
          <a:lstStyle/>
          <a:p>
            <a:r>
              <a:rPr sz="2800" b="1" i="0">
                <a:solidFill>
                  <a:srgbClr val="171B21"/>
                </a:solidFill>
                <a:latin typeface="Calibri"/>
              </a:rPr>
              <a:t>The Future of AI in Business</a:t>
            </a:r>
          </a:p>
        </p:txBody>
      </p:sp>
      <p:sp>
        <p:nvSpPr>
          <p:cNvPr id="3" name="TextBox 2"/>
          <p:cNvSpPr txBox="1"/>
          <p:nvPr/>
        </p:nvSpPr>
        <p:spPr>
          <a:xfrm>
            <a:off x="502920" y="1463040"/>
            <a:ext cx="11185855" cy="4846320"/>
          </a:xfrm>
          <a:prstGeom prst="rect">
            <a:avLst/>
          </a:prstGeom>
          <a:noFill/>
        </p:spPr>
        <p:txBody>
          <a:bodyPr wrap="square" anchor="t" lIns="0" rIns="0" tIns="0" bIns="0">
            <a:spAutoFit/>
          </a:bodyPr>
          <a:lstStyle/>
          <a:p>
            <a:pPr>
              <a:spcAft>
                <a:spcPts val="1200"/>
              </a:spcAft>
            </a:pPr>
            <a:r>
              <a:rPr sz="1600" b="1" i="0">
                <a:solidFill>
                  <a:srgbClr val="2551D9"/>
                </a:solidFill>
                <a:latin typeface="Calibri"/>
              </a:rPr>
              <a:t>•  </a:t>
            </a:r>
            <a:r>
              <a:rPr sz="1600" b="0" i="0">
                <a:solidFill>
                  <a:srgbClr val="171B21"/>
                </a:solidFill>
                <a:latin typeface="Calibri"/>
              </a:rPr>
              <a:t>AI will continue to redefine business models and operational paradigms.</a:t>
            </a:r>
          </a:p>
          <a:p>
            <a:pPr>
              <a:spcAft>
                <a:spcPts val="1200"/>
              </a:spcAft>
            </a:pPr>
            <a:r>
              <a:rPr sz="1600" b="1" i="0">
                <a:solidFill>
                  <a:srgbClr val="2551D9"/>
                </a:solidFill>
                <a:latin typeface="Calibri"/>
              </a:rPr>
              <a:t>•  </a:t>
            </a:r>
            <a:r>
              <a:rPr sz="1600" b="0" i="0">
                <a:solidFill>
                  <a:srgbClr val="171B21"/>
                </a:solidFill>
                <a:latin typeface="Calibri"/>
              </a:rPr>
              <a:t>Strategic adoption is key to maintaining relevance and fostering growth.</a:t>
            </a:r>
          </a:p>
          <a:p>
            <a:pPr>
              <a:spcAft>
                <a:spcPts val="1200"/>
              </a:spcAft>
            </a:pPr>
            <a:r>
              <a:rPr sz="1600" b="1" i="0">
                <a:solidFill>
                  <a:srgbClr val="2551D9"/>
                </a:solidFill>
                <a:latin typeface="Calibri"/>
              </a:rPr>
              <a:t>•  </a:t>
            </a:r>
            <a:r>
              <a:rPr sz="1600" b="0" i="0">
                <a:solidFill>
                  <a:srgbClr val="171B21"/>
                </a:solidFill>
                <a:latin typeface="Calibri"/>
              </a:rPr>
              <a:t>Ethical considerations and responsible AI development are non-negotiable.</a:t>
            </a:r>
          </a:p>
          <a:p>
            <a:pPr>
              <a:spcAft>
                <a:spcPts val="1200"/>
              </a:spcAft>
            </a:pPr>
            <a:r>
              <a:rPr sz="1600" b="1" i="0">
                <a:solidFill>
                  <a:srgbClr val="2551D9"/>
                </a:solidFill>
                <a:latin typeface="Calibri"/>
              </a:rPr>
              <a:t>•  </a:t>
            </a:r>
            <a:r>
              <a:rPr sz="1600" b="0" i="0">
                <a:solidFill>
                  <a:srgbClr val="171B21"/>
                </a:solidFill>
                <a:latin typeface="Calibri"/>
              </a:rPr>
              <a:t>Investing in human-AI collaboration will unlock unprecedented potential.</a:t>
            </a:r>
          </a:p>
          <a:p>
            <a:pPr>
              <a:spcAft>
                <a:spcPts val="1200"/>
              </a:spcAft>
            </a:pPr>
            <a:r>
              <a:rPr sz="1600" b="1" i="0">
                <a:solidFill>
                  <a:srgbClr val="2551D9"/>
                </a:solidFill>
                <a:latin typeface="Calibri"/>
              </a:rPr>
              <a:t>•  </a:t>
            </a:r>
            <a:r>
              <a:rPr sz="1600" b="0" i="0">
                <a:solidFill>
                  <a:srgbClr val="171B21"/>
                </a:solidFill>
                <a:latin typeface="Calibri"/>
              </a:rPr>
              <a:t>Businesses must prepare for continuous innovation and adaptation.</a:t>
            </a:r>
          </a:p>
        </p:txBody>
      </p:sp>
      <p:sp>
        <p:nvSpPr>
          <p:cNvPr id="4" name="TextBox 3"/>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B6472"/>
                </a:solidFill>
                <a:latin typeface="Calibri"/>
              </a:rPr>
              <a:t>Artificial Intelligence: Driving Business Transformation</a:t>
            </a:r>
          </a:p>
        </p:txBody>
      </p:sp>
      <p:sp>
        <p:nvSpPr>
          <p:cNvPr id="5" name="TextBox 4"/>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B6472"/>
                </a:solidFill>
                <a:latin typeface="Calibri"/>
              </a:rPr>
              <a:t>05 / 05</a:t>
            </a:r>
          </a:p>
        </p:txBody>
      </p:sp>
      <p:sp>
        <p:nvSpPr>
          <p:cNvPr id="6" name="Rectangle 5"/>
          <p:cNvSpPr/>
          <p:nvPr/>
        </p:nvSpPr>
        <p:spPr>
          <a:xfrm>
            <a:off x="502920" y="6355080"/>
            <a:ext cx="11185855" cy="127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