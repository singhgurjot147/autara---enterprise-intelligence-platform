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A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728655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600" b="1" i="0">
                <a:solidFill>
                  <a:srgbClr val="26221A"/>
                </a:solidFill>
                <a:latin typeface="Georgia"/>
              </a:rPr>
              <a:t>Retrieval-Augmented Generation (RAG)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6B6355"/>
                </a:solidFill>
                <a:latin typeface="Georgia"/>
              </a:rPr>
              <a:t>Enhancing Large Language Models for Accuracy and Relevance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3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Challenge: LLM Limitations</a:t>
            </a:r>
          </a:p>
          <a:p>
            <a:pPr>
              <a:spcBef>
                <a:spcPts val="1000"/>
              </a:spcBef>
            </a:pPr>
            <a:r>
              <a:rPr sz="1600" b="0" i="0">
                <a:solidFill>
                  <a:srgbClr val="F2F4F8"/>
                </a:solidFill>
                <a:latin typeface="Georgia"/>
              </a:rPr>
              <a:t>Why Pre-trained Models Aren't Always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26221A"/>
                </a:solidFill>
                <a:latin typeface="Georgia"/>
              </a:rPr>
              <a:t>How RAG Works: A Three-Step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33420"/>
            <a:ext cx="10728655" cy="25400"/>
          </a:xfrm>
          <a:prstGeom prst="rect">
            <a:avLst/>
          </a:prstGeom>
          <a:solidFill>
            <a:srgbClr val="46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7A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74320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6221A"/>
                </a:solidFill>
                <a:latin typeface="Georgia"/>
              </a:rPr>
              <a:t>1. Retrieval: Identify and fetch relevant information from an external knowledge base.</a:t>
            </a:r>
          </a:p>
        </p:txBody>
      </p:sp>
      <p:sp>
        <p:nvSpPr>
          <p:cNvPr id="6" name="Oval 5"/>
          <p:cNvSpPr/>
          <p:nvPr/>
        </p:nvSpPr>
        <p:spPr>
          <a:xfrm>
            <a:off x="5867247" y="3017520"/>
            <a:ext cx="457200" cy="457200"/>
          </a:xfrm>
          <a:prstGeom prst="ellipse">
            <a:avLst/>
          </a:prstGeom>
          <a:solidFill>
            <a:srgbClr val="7A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0007" y="192024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6221A"/>
                </a:solidFill>
                <a:latin typeface="Georgia"/>
              </a:rPr>
              <a:t>2. Augmentation: Integrate the retrieved context into the LLM's input prompt.</a:t>
            </a:r>
          </a:p>
        </p:txBody>
      </p:sp>
      <p:sp>
        <p:nvSpPr>
          <p:cNvPr id="8" name="Oval 7"/>
          <p:cNvSpPr/>
          <p:nvPr/>
        </p:nvSpPr>
        <p:spPr>
          <a:xfrm>
            <a:off x="11231575" y="3017520"/>
            <a:ext cx="457200" cy="457200"/>
          </a:xfrm>
          <a:prstGeom prst="ellipse">
            <a:avLst/>
          </a:prstGeom>
          <a:solidFill>
            <a:srgbClr val="7A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365760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6221A"/>
                </a:solidFill>
                <a:latin typeface="Georgia"/>
              </a:rPr>
              <a:t>3. Generation: The LLM generates a response, now informed by the provided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355"/>
                </a:solidFill>
                <a:latin typeface="Georgia"/>
              </a:rPr>
              <a:t>Retrieval-Augmented Generation (RAG)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355"/>
                </a:solidFill>
                <a:latin typeface="Georgia"/>
              </a:rPr>
              <a:t>03 / 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1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26221A"/>
                </a:solidFill>
                <a:latin typeface="Georgia"/>
              </a:rPr>
              <a:t>Key Advantages of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Improves factual accuracy and reduces the risk of hallucinations.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Provides access to up-to-date and domain-specific knowledge.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Enhances the relevance and specificity of generated answers.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Enables traceability and verifiability of information sources.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Reduces the need for continuous retraining of large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355"/>
                </a:solidFill>
                <a:latin typeface="Georgia"/>
              </a:rPr>
              <a:t>Retrieval-Augmented Generation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355"/>
                </a:solidFill>
                <a:latin typeface="Georgia"/>
              </a:rPr>
              <a:t>04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1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26221A"/>
                </a:solidFill>
                <a:latin typeface="Georgia"/>
              </a:rPr>
              <a:t>RAG: A Powerful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118585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RAG is crucial for building reliable and trustworthy AI applications.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It empowers LLMs to leverage external, verifiable data sources.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This approach pushes the boundaries of practical LLM deployment.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RAG represents a significant step towards more capable and grounded AI.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7A3E1D"/>
                </a:solidFill>
                <a:latin typeface="Georgia"/>
              </a:rPr>
              <a:t>•  </a:t>
            </a:r>
            <a:r>
              <a:rPr sz="1500" b="0" i="0">
                <a:solidFill>
                  <a:srgbClr val="26221A"/>
                </a:solidFill>
                <a:latin typeface="Georgia"/>
              </a:rPr>
              <a:t>It bridges the gap between pre-trained knowledge and real-world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355"/>
                </a:solidFill>
                <a:latin typeface="Georgia"/>
              </a:rPr>
              <a:t>Retrieval-Augmented Generation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355"/>
                </a:solidFill>
                <a:latin typeface="Georgia"/>
              </a:rPr>
              <a:t>05 /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5855" cy="12700"/>
          </a:xfrm>
          <a:prstGeom prst="rect">
            <a:avLst/>
          </a:prstGeom>
          <a:solidFill>
            <a:srgbClr val="F1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