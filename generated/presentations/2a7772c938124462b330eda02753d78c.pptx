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/ trillion USD</c:v>
                </c:pt>
              </c:strCache>
            </c:strRef>
          </c:tx>
          <c:spPr>
            <a:solidFill>
              <a:srgbClr val="2551D9"/>
            </a:solidFill>
          </c:spPr>
          <c:cat>
            <c:strRef>
              <c:f>Sheet1!$A$2:$A$4</c:f>
              <c:strCache>
                <c:ptCount val="3"/>
                <c:pt idx="0">
                  <c:v>Companies using AI</c:v>
                </c:pt>
                <c:pt idx="1">
                  <c:v>Productivity increase expected</c:v>
                </c:pt>
                <c:pt idx="2">
                  <c:v>AI market size by 2030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</c:v>
                </c:pt>
                <c:pt idx="1">
                  <c:v>64.0</c:v>
                </c:pt>
                <c:pt idx="2">
                  <c:v>1800.0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frame AI as a strategic imperative, not just a technology trend. Set the stage for a practical, business-focused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AI is past the experimental phase. The 35% adoption figure comes from IBM's global AI survey; the market projection reflects consistent analyst consensus.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real barriers but pivot quickly to ROI narratives. The left column represents risks to mitigate; the right column represents value to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AI implementation is a change management exercise, not just a tech project. Phase 1 often fails when use cases are too ambitious.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citations for all statistics and claims made during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728655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 i="0">
                <a:solidFill>
                  <a:srgbClr val="171B21"/>
                </a:solidFill>
                <a:latin typeface="Calibri"/>
              </a:rPr>
              <a:t>AI in Business: Transformation &amp; Strategy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5B6472"/>
                </a:solidFill>
                <a:latin typeface="Calibri"/>
              </a:rPr>
              <a:t>Navigating the AI Landscape for Competitive Advantage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AI Adoption at Scale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554480"/>
          <a:ext cx="1118585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5B6472"/>
                </a:solidFill>
                <a:latin typeface="Calibri"/>
              </a:rPr>
              <a:t>Unit: percent / trillion USD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AI in Business: Transformation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02 /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Challenges vs. Opportunities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54480"/>
            <a:ext cx="5432907" cy="47548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5B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9757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5B6472"/>
                </a:solidFill>
                <a:latin typeface="Calibri"/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97570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Data privacy and governance concerns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High integration costs with legacy systems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Shortage of skilled AI talent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554480"/>
            <a:ext cx="5432907" cy="47548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255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4467" y="1737360"/>
            <a:ext cx="49757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551D9"/>
                </a:solidFill>
                <a:latin typeface="Calibri"/>
              </a:rPr>
              <a:t>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4467" y="2286000"/>
            <a:ext cx="497570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Process automation and cost reduction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Deeper customer insights and personalization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First-mover competitive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AI in Business: Transformation &amp;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03 / 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AI 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33420"/>
            <a:ext cx="10728655" cy="2540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74320" y="36576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Assess readiness and define high-value use cases</a:t>
            </a:r>
          </a:p>
        </p:txBody>
      </p:sp>
      <p:sp>
        <p:nvSpPr>
          <p:cNvPr id="6" name="Oval 5"/>
          <p:cNvSpPr/>
          <p:nvPr/>
        </p:nvSpPr>
        <p:spPr>
          <a:xfrm>
            <a:off x="3185083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7843" y="19202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Build secure data infrastructure and governance</a:t>
            </a:r>
          </a:p>
        </p:txBody>
      </p:sp>
      <p:sp>
        <p:nvSpPr>
          <p:cNvPr id="8" name="Oval 7"/>
          <p:cNvSpPr/>
          <p:nvPr/>
        </p:nvSpPr>
        <p:spPr>
          <a:xfrm>
            <a:off x="5867247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0007" y="36576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Pilot with controlled, measurable projects</a:t>
            </a:r>
          </a:p>
        </p:txBody>
      </p:sp>
      <p:sp>
        <p:nvSpPr>
          <p:cNvPr id="10" name="Oval 9"/>
          <p:cNvSpPr/>
          <p:nvPr/>
        </p:nvSpPr>
        <p:spPr>
          <a:xfrm>
            <a:off x="8549411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171" y="19202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Scale across departments with workforce training</a:t>
            </a:r>
          </a:p>
        </p:txBody>
      </p:sp>
      <p:sp>
        <p:nvSpPr>
          <p:cNvPr id="12" name="Oval 11"/>
          <p:cNvSpPr/>
          <p:nvPr/>
        </p:nvSpPr>
        <p:spPr>
          <a:xfrm>
            <a:off x="11231575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36576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Monitor performance and iterate continuously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AI in Business: Transformation &amp;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04 /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Sources &amp;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118585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IBM Global AI Adoption Index â€” IBM Research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IBM Global AI Adoption Index 2023 â€” IBM Institute for Business Value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AI Market Size Projection â€” Grand View Research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McKinsey AI Business Survey â€” McKinsey &amp;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AI in Business: Transformation &amp;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05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