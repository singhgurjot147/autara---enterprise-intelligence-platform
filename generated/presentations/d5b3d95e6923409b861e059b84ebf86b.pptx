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Million Metric Tons (MMT) / %</c:v>
                </c:pt>
              </c:strCache>
            </c:strRef>
          </c:tx>
          <c:spPr>
            <a:solidFill>
              <a:srgbClr val="1B3B6F"/>
            </a:solidFill>
          </c:spPr>
          <c:cat>
            <c:strRef>
              <c:f>Sheet1!$A$2:$A$4</c:f>
              <c:strCache>
                <c:ptCount val="3"/>
                <c:pt idx="0">
                  <c:v>Annual Global E-Waste Generation</c:v>
                </c:pt>
                <c:pt idx="1">
                  <c:v>Recycled E-Waste Rate Globally</c:v>
                </c:pt>
                <c:pt idx="2">
                  <c:v>Projected Annual Growth Rate</c:v>
                </c:pt>
              </c:strCache>
            </c:strRef>
          </c:cat>
          <c:val>
            <c:numRef>
              <c:f>Sheet1!$B$2:$B$4</c:f>
              <c:numCache>
                <c:formatCode>General</c:formatCode>
                <c:ptCount val="3"/>
                <c:pt idx="0">
                  <c:v>53.6</c:v>
                </c:pt>
                <c:pt idx="1">
                  <c:v>17.4</c:v>
                </c:pt>
                <c:pt idx="2">
                  <c:v>2.0</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Today, we're addressing a critical consequence of our digital age: electronic waste, or e-waste. As technology advances, so does the volume of discarded electronics, presenting significant environmental, health, and economic challenges. This presentation will explore the scope of the e-waste problem and discuss innovative solutions.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begin, let's define e-waste. It's not just old phones; it's any electrical or electronic device that has been discarded. This category is incredibly diverse, ranging from large industrial equipment to small personal gadgets. The complexity arises from its composition: it contains valuable metals like gold and copper, alongside toxic elements such as lead, mercury, and cadmium. The sheer volume of e-waste is growing exponentially, driven by our fast-paced tech upgrades and consumer habits.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statistics highlight the immense scale of the e-waste challenge. In 2019, the world generated a staggering 53.6 million metric tons of e-waste. To put that in perspective, it's equivalent to 350 cruise ships. Alarmingly, only 17.4% of this was formally collected and recycled. This means the vast majority ends up in landfills or is informally processed, leading to severe consequences. The problem is only set to worsen, with e-waste projected to grow by 2% annually, reaching 74 million metric tons by 2030.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consequences of improper e-waste management are dire. When e-waste is dumped in landfills, hazardous substances like lead, mercury, and cadmium leach into the soil and groundwater, polluting vital natural resources. Informal burning, a common practice in many developing countries, releases highly toxic dioxins, furans, and heavy metals into the atmosphere, impacting air quality for miles. Workers, often children, in these informal sectors face direct exposure to these toxins, leading to a range of chronic and acute health problems. Furthermore, the continuous demand for new electronics without adequate recycling contributes to the rapid depletion of finite natural resources.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Addressing e-waste requires a fundamental shift in our economic paradigm, moving from a linear 'take-make-dispose' model to a circular economy. The traditional linear model is inherently unsustainable, leading to rapid resource depletion and waste accumulation. In contrast, a circular economy champions principles like designing products for longevity, facilitating repair and reuse, and ensuring that materials can be effectively recovered and recycled at the end of a product's life. This approach not only reduces waste but also creates new economic opportunities and preserves valuable resources.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Fortunately, technological advancements are providing powerful tools to combat the e-waste crisis. Robotics and AI are revolutionizing sorting and dismantling processes, enabling more efficient and safer recovery of materials. Sophisticated metallurgical techniques like hydrometallurgy and pyrometallurgy are becoming more effective at extracting valuable rare earth metals and precious metals from complex e-waste streams. Blockchain technology offers unprecedented transparency, allowing us to track products from manufacturing to end-of-life, ensuring responsible disposal and recycling. Furthermore, designers are focusing on creating products with greener materials and modular components, making them easier to repair, upgrade, and ultimately recycle.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some of the key sources that inform our understanding of the e-waste challenge and potential solutions. These documents provide comprehensive data and policy frameworks for managing electronic waste globally.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B3B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10728655" cy="1828800"/>
          </a:xfrm>
          <a:prstGeom prst="rect">
            <a:avLst/>
          </a:prstGeom>
          <a:noFill/>
        </p:spPr>
        <p:txBody>
          <a:bodyPr wrap="square" anchor="ctr" lIns="0" rIns="0" tIns="0" bIns="0">
            <a:spAutoFit/>
          </a:bodyPr>
          <a:lstStyle/>
          <a:p>
            <a:r>
              <a:rPr sz="3800" b="1" i="0">
                <a:solidFill>
                  <a:srgbClr val="14202E"/>
                </a:solidFill>
                <a:latin typeface="Georgia"/>
              </a:rPr>
              <a:t>The E-Waste Challenge</a:t>
            </a:r>
          </a:p>
          <a:p>
            <a:pPr>
              <a:spcBef>
                <a:spcPts val="1400"/>
              </a:spcBef>
            </a:pPr>
            <a:r>
              <a:rPr sz="1800" b="0" i="0">
                <a:solidFill>
                  <a:srgbClr val="52606D"/>
                </a:solidFill>
                <a:latin typeface="Calibri"/>
              </a:rPr>
              <a:t>Navigating the Digital Aftermath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3B6F"/>
        </a:solidFill>
        <a:effectLst/>
      </p:bgPr>
    </p:bg>
    <p:spTree>
      <p:nvGrpSpPr>
        <p:cNvPr id="1" name=""/>
        <p:cNvGrpSpPr/>
        <p:nvPr/>
      </p:nvGrpSpPr>
      <p:grpSpPr/>
      <p:sp>
        <p:nvSpPr>
          <p:cNvPr id="2" name="TextBox 1"/>
          <p:cNvSpPr txBox="1"/>
          <p:nvPr/>
        </p:nvSpPr>
        <p:spPr>
          <a:xfrm>
            <a:off x="914400" y="2743200"/>
            <a:ext cx="10362895" cy="1371600"/>
          </a:xfrm>
          <a:prstGeom prst="rect">
            <a:avLst/>
          </a:prstGeom>
          <a:noFill/>
        </p:spPr>
        <p:txBody>
          <a:bodyPr wrap="square" anchor="ctr" lIns="0" rIns="0" tIns="0" bIns="0">
            <a:spAutoFit/>
          </a:bodyPr>
          <a:lstStyle/>
          <a:p>
            <a:r>
              <a:rPr sz="3600" b="1" i="0">
                <a:solidFill>
                  <a:srgbClr val="FFFFFF"/>
                </a:solidFill>
                <a:latin typeface="Georgia"/>
              </a:rPr>
              <a:t>Understanding E-Waste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5855" cy="822960"/>
          </a:xfrm>
          <a:prstGeom prst="rect">
            <a:avLst/>
          </a:prstGeom>
          <a:noFill/>
        </p:spPr>
        <p:txBody>
          <a:bodyPr wrap="square" anchor="t" lIns="0" rIns="0" tIns="0" bIns="0">
            <a:spAutoFit/>
          </a:bodyPr>
          <a:lstStyle/>
          <a:p>
            <a:r>
              <a:rPr sz="2600" b="1" i="0">
                <a:solidFill>
                  <a:srgbClr val="14202E"/>
                </a:solidFill>
                <a:latin typeface="Georgia"/>
              </a:rPr>
              <a:t>Global E-Waste Landscape</a:t>
            </a:r>
          </a:p>
        </p:txBody>
      </p:sp>
      <p:graphicFrame>
        <p:nvGraphicFramePr>
          <p:cNvPr id="3" name="Chart 2"/>
          <p:cNvGraphicFramePr>
            <a:graphicFrameLocks noGrp="1"/>
          </p:cNvGraphicFramePr>
          <p:nvPr/>
        </p:nvGraphicFramePr>
        <p:xfrm>
          <a:off x="502920" y="1554480"/>
          <a:ext cx="11185855" cy="4572000"/>
        </p:xfrm>
        <a:graphic>
          <a:graphicData uri="http://schemas.openxmlformats.org/drawingml/2006/chart">
            <c:chart xmlns:c="http://schemas.openxmlformats.org/drawingml/2006/chart" r:id="rId2"/>
          </a:graphicData>
        </a:graphic>
      </p:graphicFrame>
      <p:sp>
        <p:nvSpPr>
          <p:cNvPr id="4" name="TextBox 3"/>
          <p:cNvSpPr txBox="1"/>
          <p:nvPr/>
        </p:nvSpPr>
        <p:spPr>
          <a:xfrm>
            <a:off x="502920" y="6172200"/>
            <a:ext cx="11185855" cy="274320"/>
          </a:xfrm>
          <a:prstGeom prst="rect">
            <a:avLst/>
          </a:prstGeom>
          <a:noFill/>
        </p:spPr>
        <p:txBody>
          <a:bodyPr wrap="square" anchor="t" lIns="0" rIns="0" tIns="0" bIns="0">
            <a:spAutoFit/>
          </a:bodyPr>
          <a:lstStyle/>
          <a:p>
            <a:r>
              <a:rPr sz="1200" b="0" i="0">
                <a:solidFill>
                  <a:srgbClr val="52606D"/>
                </a:solidFill>
                <a:latin typeface="Calibri"/>
              </a:rPr>
              <a:t>Unit: Million Metric Tons (MMT) / %</a:t>
            </a:r>
          </a:p>
        </p:txBody>
      </p:sp>
      <p:sp>
        <p:nvSpPr>
          <p:cNvPr id="5" name="TextBox 4"/>
          <p:cNvSpPr txBox="1"/>
          <p:nvPr/>
        </p:nvSpPr>
        <p:spPr>
          <a:xfrm>
            <a:off x="502920" y="6473952"/>
            <a:ext cx="11185855" cy="274320"/>
          </a:xfrm>
          <a:prstGeom prst="rect">
            <a:avLst/>
          </a:prstGeom>
          <a:noFill/>
        </p:spPr>
        <p:txBody>
          <a:bodyPr wrap="square" anchor="t" lIns="0" rIns="0" tIns="0" bIns="0">
            <a:spAutoFit/>
          </a:bodyPr>
          <a:lstStyle/>
          <a:p>
            <a:pPr algn="l"/>
            <a:r>
              <a:rPr sz="900" b="0" i="0">
                <a:solidFill>
                  <a:srgbClr val="52606D"/>
                </a:solidFill>
                <a:latin typeface="Calibri"/>
              </a:rPr>
              <a:t>The E-Waste Challenge</a:t>
            </a:r>
          </a:p>
        </p:txBody>
      </p:sp>
      <p:sp>
        <p:nvSpPr>
          <p:cNvPr id="6" name="TextBox 5"/>
          <p:cNvSpPr txBox="1"/>
          <p:nvPr/>
        </p:nvSpPr>
        <p:spPr>
          <a:xfrm>
            <a:off x="10591495" y="6473952"/>
            <a:ext cx="1097280" cy="274320"/>
          </a:xfrm>
          <a:prstGeom prst="rect">
            <a:avLst/>
          </a:prstGeom>
          <a:noFill/>
        </p:spPr>
        <p:txBody>
          <a:bodyPr wrap="square" anchor="t" lIns="0" rIns="0" tIns="0" bIns="0">
            <a:spAutoFit/>
          </a:bodyPr>
          <a:lstStyle/>
          <a:p>
            <a:pPr algn="r"/>
            <a:r>
              <a:rPr sz="900" b="0" i="0">
                <a:solidFill>
                  <a:srgbClr val="52606D"/>
                </a:solidFill>
                <a:latin typeface="Calibri"/>
              </a:rPr>
              <a:t>03 / 07</a:t>
            </a:r>
          </a:p>
        </p:txBody>
      </p:sp>
      <p:sp>
        <p:nvSpPr>
          <p:cNvPr id="7" name="Rectangle 6"/>
          <p:cNvSpPr/>
          <p:nvPr/>
        </p:nvSpPr>
        <p:spPr>
          <a:xfrm>
            <a:off x="502920" y="6355080"/>
            <a:ext cx="11185855" cy="12700"/>
          </a:xfrm>
          <a:prstGeom prst="rect">
            <a:avLst/>
          </a:prstGeom>
          <a:solidFill>
            <a:srgbClr val="ED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822960"/>
          </a:xfrm>
          <a:prstGeom prst="rect">
            <a:avLst/>
          </a:prstGeom>
          <a:noFill/>
        </p:spPr>
        <p:txBody>
          <a:bodyPr wrap="square" anchor="t" lIns="0" rIns="0" tIns="0" bIns="0">
            <a:spAutoFit/>
          </a:bodyPr>
          <a:lstStyle/>
          <a:p>
            <a:r>
              <a:rPr sz="2600" b="1" i="0">
                <a:solidFill>
                  <a:srgbClr val="14202E"/>
                </a:solidFill>
                <a:latin typeface="Georgia"/>
              </a:rPr>
              <a:t>Environmental and Health Impacts</a:t>
            </a:r>
          </a:p>
        </p:txBody>
      </p:sp>
      <p:sp>
        <p:nvSpPr>
          <p:cNvPr id="3" name="Rounded Rectangle 2"/>
          <p:cNvSpPr/>
          <p:nvPr/>
        </p:nvSpPr>
        <p:spPr>
          <a:xfrm>
            <a:off x="502920" y="1234440"/>
            <a:ext cx="11185855" cy="4023360"/>
          </a:xfrm>
          <a:prstGeom prst="roundRect">
            <a:avLst/>
          </a:prstGeom>
          <a:solidFill>
            <a:srgbClr val="EDEFF3"/>
          </a:solidFill>
          <a:ln w="12700">
            <a:solidFill>
              <a:srgbClr val="2E5A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52606D"/>
                </a:solidFill>
                <a:latin typeface="Calibri"/>
              </a:rPr>
              <a:t>large pile of discarded electronics in a landfill or informal recycling site</a:t>
            </a:r>
          </a:p>
        </p:txBody>
      </p:sp>
      <p:sp>
        <p:nvSpPr>
          <p:cNvPr id="4" name="TextBox 3"/>
          <p:cNvSpPr txBox="1"/>
          <p:nvPr/>
        </p:nvSpPr>
        <p:spPr>
          <a:xfrm>
            <a:off x="502920" y="5440680"/>
            <a:ext cx="11185855" cy="914400"/>
          </a:xfrm>
          <a:prstGeom prst="rect">
            <a:avLst/>
          </a:prstGeom>
          <a:noFill/>
        </p:spPr>
        <p:txBody>
          <a:bodyPr wrap="square" anchor="t" lIns="0" rIns="0" tIns="0" bIns="0">
            <a:spAutoFit/>
          </a:bodyPr>
          <a:lstStyle/>
          <a:p>
            <a:pPr>
              <a:spcAft>
                <a:spcPts val="1200"/>
              </a:spcAft>
            </a:pPr>
            <a:r>
              <a:rPr sz="1400" b="1" i="0">
                <a:solidFill>
                  <a:srgbClr val="1B3B6F"/>
                </a:solidFill>
                <a:latin typeface="Calibri"/>
              </a:rPr>
              <a:t>•  </a:t>
            </a:r>
            <a:r>
              <a:rPr sz="1400" b="0" i="0">
                <a:solidFill>
                  <a:srgbClr val="14202E"/>
                </a:solidFill>
                <a:latin typeface="Calibri"/>
              </a:rPr>
              <a:t>Leaching of heavy metals and toxins contaminates soil and groundwater, affecting ecosystems.</a:t>
            </a:r>
          </a:p>
          <a:p>
            <a:pPr>
              <a:spcAft>
                <a:spcPts val="1200"/>
              </a:spcAft>
            </a:pPr>
            <a:r>
              <a:rPr sz="1400" b="1" i="0">
                <a:solidFill>
                  <a:srgbClr val="1B3B6F"/>
                </a:solidFill>
                <a:latin typeface="Calibri"/>
              </a:rPr>
              <a:t>•  </a:t>
            </a:r>
            <a:r>
              <a:rPr sz="1400" b="0" i="0">
                <a:solidFill>
                  <a:srgbClr val="14202E"/>
                </a:solidFill>
                <a:latin typeface="Calibri"/>
              </a:rPr>
              <a:t>Informal burning of e-waste releases persistent organic pollutants and greenhouse gases into the air.</a:t>
            </a:r>
          </a:p>
        </p:txBody>
      </p:sp>
      <p:sp>
        <p:nvSpPr>
          <p:cNvPr id="5" name="TextBox 4"/>
          <p:cNvSpPr txBox="1"/>
          <p:nvPr/>
        </p:nvSpPr>
        <p:spPr>
          <a:xfrm>
            <a:off x="502920" y="6473952"/>
            <a:ext cx="11185855" cy="274320"/>
          </a:xfrm>
          <a:prstGeom prst="rect">
            <a:avLst/>
          </a:prstGeom>
          <a:noFill/>
        </p:spPr>
        <p:txBody>
          <a:bodyPr wrap="square" anchor="t" lIns="0" rIns="0" tIns="0" bIns="0">
            <a:spAutoFit/>
          </a:bodyPr>
          <a:lstStyle/>
          <a:p>
            <a:pPr algn="l"/>
            <a:r>
              <a:rPr sz="900" b="0" i="0">
                <a:solidFill>
                  <a:srgbClr val="52606D"/>
                </a:solidFill>
                <a:latin typeface="Calibri"/>
              </a:rPr>
              <a:t>The E-Waste Challenge</a:t>
            </a:r>
          </a:p>
        </p:txBody>
      </p:sp>
      <p:sp>
        <p:nvSpPr>
          <p:cNvPr id="6" name="TextBox 5"/>
          <p:cNvSpPr txBox="1"/>
          <p:nvPr/>
        </p:nvSpPr>
        <p:spPr>
          <a:xfrm>
            <a:off x="10591495" y="6473952"/>
            <a:ext cx="1097280" cy="274320"/>
          </a:xfrm>
          <a:prstGeom prst="rect">
            <a:avLst/>
          </a:prstGeom>
          <a:noFill/>
        </p:spPr>
        <p:txBody>
          <a:bodyPr wrap="square" anchor="t" lIns="0" rIns="0" tIns="0" bIns="0">
            <a:spAutoFit/>
          </a:bodyPr>
          <a:lstStyle/>
          <a:p>
            <a:pPr algn="r"/>
            <a:r>
              <a:rPr sz="900" b="0" i="0">
                <a:solidFill>
                  <a:srgbClr val="52606D"/>
                </a:solidFill>
                <a:latin typeface="Calibri"/>
              </a:rPr>
              <a:t>04 / 07</a:t>
            </a:r>
          </a:p>
        </p:txBody>
      </p:sp>
      <p:sp>
        <p:nvSpPr>
          <p:cNvPr id="7" name="Rectangle 6"/>
          <p:cNvSpPr/>
          <p:nvPr/>
        </p:nvSpPr>
        <p:spPr>
          <a:xfrm>
            <a:off x="502920" y="6355080"/>
            <a:ext cx="11185855" cy="12700"/>
          </a:xfrm>
          <a:prstGeom prst="rect">
            <a:avLst/>
          </a:prstGeom>
          <a:solidFill>
            <a:srgbClr val="ED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5855" cy="822960"/>
          </a:xfrm>
          <a:prstGeom prst="rect">
            <a:avLst/>
          </a:prstGeom>
          <a:noFill/>
        </p:spPr>
        <p:txBody>
          <a:bodyPr wrap="square" anchor="t" lIns="0" rIns="0" tIns="0" bIns="0">
            <a:spAutoFit/>
          </a:bodyPr>
          <a:lstStyle/>
          <a:p>
            <a:r>
              <a:rPr sz="2600" b="1" i="0">
                <a:solidFill>
                  <a:srgbClr val="14202E"/>
                </a:solidFill>
                <a:latin typeface="Georgia"/>
              </a:rPr>
              <a:t>Shifting to a Circular Economy</a:t>
            </a:r>
          </a:p>
        </p:txBody>
      </p:sp>
      <p:sp>
        <p:nvSpPr>
          <p:cNvPr id="3" name="Rounded Rectangle 2"/>
          <p:cNvSpPr/>
          <p:nvPr/>
        </p:nvSpPr>
        <p:spPr>
          <a:xfrm>
            <a:off x="502920" y="1554480"/>
            <a:ext cx="5432907" cy="4754880"/>
          </a:xfrm>
          <a:prstGeom prst="roundRect">
            <a:avLst/>
          </a:prstGeom>
          <a:solidFill>
            <a:srgbClr val="EDEFF3"/>
          </a:solidFill>
          <a:ln w="19050">
            <a:solidFill>
              <a:srgbClr val="52606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4975707" cy="457200"/>
          </a:xfrm>
          <a:prstGeom prst="rect">
            <a:avLst/>
          </a:prstGeom>
          <a:noFill/>
        </p:spPr>
        <p:txBody>
          <a:bodyPr wrap="square" anchor="t" lIns="0" rIns="0" tIns="0" bIns="0">
            <a:spAutoFit/>
          </a:bodyPr>
          <a:lstStyle/>
          <a:p>
            <a:r>
              <a:rPr sz="1600" b="1" i="0">
                <a:solidFill>
                  <a:srgbClr val="52606D"/>
                </a:solidFill>
                <a:latin typeface="Georgia"/>
              </a:rPr>
              <a:t>Linear Model (Traditional)</a:t>
            </a:r>
          </a:p>
        </p:txBody>
      </p:sp>
      <p:sp>
        <p:nvSpPr>
          <p:cNvPr id="5" name="TextBox 4"/>
          <p:cNvSpPr txBox="1"/>
          <p:nvPr/>
        </p:nvSpPr>
        <p:spPr>
          <a:xfrm>
            <a:off x="731520" y="2286000"/>
            <a:ext cx="4975707" cy="3840480"/>
          </a:xfrm>
          <a:prstGeom prst="rect">
            <a:avLst/>
          </a:prstGeom>
          <a:noFill/>
        </p:spPr>
        <p:txBody>
          <a:bodyPr wrap="square" anchor="t" lIns="0" rIns="0" tIns="0" bIns="0">
            <a:spAutoFit/>
          </a:bodyPr>
          <a:lstStyle/>
          <a:p>
            <a:pPr>
              <a:spcAft>
                <a:spcPts val="1200"/>
              </a:spcAft>
            </a:pPr>
            <a:r>
              <a:rPr sz="1400" b="1" i="0">
                <a:solidFill>
                  <a:srgbClr val="1B3B6F"/>
                </a:solidFill>
                <a:latin typeface="Calibri"/>
              </a:rPr>
              <a:t>•  </a:t>
            </a:r>
            <a:r>
              <a:rPr sz="1400" b="0" i="0">
                <a:solidFill>
                  <a:srgbClr val="14202E"/>
                </a:solidFill>
                <a:latin typeface="Calibri"/>
              </a:rPr>
              <a:t>Focuses on 'take-make-dispose' consumption patterns.</a:t>
            </a:r>
          </a:p>
          <a:p>
            <a:pPr>
              <a:spcAft>
                <a:spcPts val="1200"/>
              </a:spcAft>
            </a:pPr>
            <a:r>
              <a:rPr sz="1400" b="1" i="0">
                <a:solidFill>
                  <a:srgbClr val="1B3B6F"/>
                </a:solidFill>
                <a:latin typeface="Calibri"/>
              </a:rPr>
              <a:t>•  </a:t>
            </a:r>
            <a:r>
              <a:rPr sz="1400" b="0" i="0">
                <a:solidFill>
                  <a:srgbClr val="14202E"/>
                </a:solidFill>
                <a:latin typeface="Calibri"/>
              </a:rPr>
              <a:t>Limited emphasis on product longevity, repair, or reuse.</a:t>
            </a:r>
          </a:p>
          <a:p>
            <a:pPr>
              <a:spcAft>
                <a:spcPts val="1200"/>
              </a:spcAft>
            </a:pPr>
            <a:r>
              <a:rPr sz="1400" b="1" i="0">
                <a:solidFill>
                  <a:srgbClr val="1B3B6F"/>
                </a:solidFill>
                <a:latin typeface="Calibri"/>
              </a:rPr>
              <a:t>•  </a:t>
            </a:r>
            <a:r>
              <a:rPr sz="1400" b="0" i="0">
                <a:solidFill>
                  <a:srgbClr val="14202E"/>
                </a:solidFill>
                <a:latin typeface="Calibri"/>
              </a:rPr>
              <a:t>High resource extraction and significant waste generation.</a:t>
            </a:r>
          </a:p>
          <a:p>
            <a:pPr>
              <a:spcAft>
                <a:spcPts val="1200"/>
              </a:spcAft>
            </a:pPr>
            <a:r>
              <a:rPr sz="1400" b="1" i="0">
                <a:solidFill>
                  <a:srgbClr val="1B3B6F"/>
                </a:solidFill>
                <a:latin typeface="Calibri"/>
              </a:rPr>
              <a:t>•  </a:t>
            </a:r>
            <a:r>
              <a:rPr sz="1400" b="0" i="0">
                <a:solidFill>
                  <a:srgbClr val="14202E"/>
                </a:solidFill>
                <a:latin typeface="Calibri"/>
              </a:rPr>
              <a:t>Economic value of materials is lost after a single use cycle.</a:t>
            </a:r>
          </a:p>
        </p:txBody>
      </p:sp>
      <p:sp>
        <p:nvSpPr>
          <p:cNvPr id="6" name="Rounded Rectangle 5"/>
          <p:cNvSpPr/>
          <p:nvPr/>
        </p:nvSpPr>
        <p:spPr>
          <a:xfrm>
            <a:off x="6255867" y="1554480"/>
            <a:ext cx="5432907" cy="4754880"/>
          </a:xfrm>
          <a:prstGeom prst="roundRect">
            <a:avLst/>
          </a:prstGeom>
          <a:solidFill>
            <a:srgbClr val="EDEFF3"/>
          </a:solidFill>
          <a:ln w="19050">
            <a:solidFill>
              <a:srgbClr val="1B3B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84467" y="1737360"/>
            <a:ext cx="4975707" cy="457200"/>
          </a:xfrm>
          <a:prstGeom prst="rect">
            <a:avLst/>
          </a:prstGeom>
          <a:noFill/>
        </p:spPr>
        <p:txBody>
          <a:bodyPr wrap="square" anchor="t" lIns="0" rIns="0" tIns="0" bIns="0">
            <a:spAutoFit/>
          </a:bodyPr>
          <a:lstStyle/>
          <a:p>
            <a:r>
              <a:rPr sz="1600" b="1" i="0">
                <a:solidFill>
                  <a:srgbClr val="1B3B6F"/>
                </a:solidFill>
                <a:latin typeface="Georgia"/>
              </a:rPr>
              <a:t>Circular Model (Sustainable)</a:t>
            </a:r>
          </a:p>
        </p:txBody>
      </p:sp>
      <p:sp>
        <p:nvSpPr>
          <p:cNvPr id="8" name="TextBox 7"/>
          <p:cNvSpPr txBox="1"/>
          <p:nvPr/>
        </p:nvSpPr>
        <p:spPr>
          <a:xfrm>
            <a:off x="6484467" y="2286000"/>
            <a:ext cx="4975707" cy="3840480"/>
          </a:xfrm>
          <a:prstGeom prst="rect">
            <a:avLst/>
          </a:prstGeom>
          <a:noFill/>
        </p:spPr>
        <p:txBody>
          <a:bodyPr wrap="square" anchor="t" lIns="0" rIns="0" tIns="0" bIns="0">
            <a:spAutoFit/>
          </a:bodyPr>
          <a:lstStyle/>
          <a:p>
            <a:pPr>
              <a:spcAft>
                <a:spcPts val="1200"/>
              </a:spcAft>
            </a:pPr>
            <a:r>
              <a:rPr sz="1400" b="1" i="0">
                <a:solidFill>
                  <a:srgbClr val="1B3B6F"/>
                </a:solidFill>
                <a:latin typeface="Calibri"/>
              </a:rPr>
              <a:t>•  </a:t>
            </a:r>
            <a:r>
              <a:rPr sz="1400" b="0" i="0">
                <a:solidFill>
                  <a:srgbClr val="14202E"/>
                </a:solidFill>
                <a:latin typeface="Calibri"/>
              </a:rPr>
              <a:t>Prioritizes design for durability, repairability, and recyclability.</a:t>
            </a:r>
          </a:p>
          <a:p>
            <a:pPr>
              <a:spcAft>
                <a:spcPts val="1200"/>
              </a:spcAft>
            </a:pPr>
            <a:r>
              <a:rPr sz="1400" b="1" i="0">
                <a:solidFill>
                  <a:srgbClr val="1B3B6F"/>
                </a:solidFill>
                <a:latin typeface="Calibri"/>
              </a:rPr>
              <a:t>•  </a:t>
            </a:r>
            <a:r>
              <a:rPr sz="1400" b="0" i="0">
                <a:solidFill>
                  <a:srgbClr val="14202E"/>
                </a:solidFill>
                <a:latin typeface="Calibri"/>
              </a:rPr>
              <a:t>Encourages reuse, refurbishment, and high-value material recovery.</a:t>
            </a:r>
          </a:p>
          <a:p>
            <a:pPr>
              <a:spcAft>
                <a:spcPts val="1200"/>
              </a:spcAft>
            </a:pPr>
            <a:r>
              <a:rPr sz="1400" b="1" i="0">
                <a:solidFill>
                  <a:srgbClr val="1B3B6F"/>
                </a:solidFill>
                <a:latin typeface="Calibri"/>
              </a:rPr>
              <a:t>•  </a:t>
            </a:r>
            <a:r>
              <a:rPr sz="1400" b="0" i="0">
                <a:solidFill>
                  <a:srgbClr val="14202E"/>
                </a:solidFill>
                <a:latin typeface="Calibri"/>
              </a:rPr>
              <a:t>Minimizes waste and virgin resource consumption through closed loops.</a:t>
            </a:r>
          </a:p>
          <a:p>
            <a:pPr>
              <a:spcAft>
                <a:spcPts val="1200"/>
              </a:spcAft>
            </a:pPr>
            <a:r>
              <a:rPr sz="1400" b="1" i="0">
                <a:solidFill>
                  <a:srgbClr val="1B3B6F"/>
                </a:solidFill>
                <a:latin typeface="Calibri"/>
              </a:rPr>
              <a:t>•  </a:t>
            </a:r>
            <a:r>
              <a:rPr sz="1400" b="0" i="0">
                <a:solidFill>
                  <a:srgbClr val="14202E"/>
                </a:solidFill>
                <a:latin typeface="Calibri"/>
              </a:rPr>
              <a:t>Retains economic value of materials through multiple product lifecycles.</a:t>
            </a:r>
          </a:p>
        </p:txBody>
      </p:sp>
      <p:sp>
        <p:nvSpPr>
          <p:cNvPr id="9" name="TextBox 8"/>
          <p:cNvSpPr txBox="1"/>
          <p:nvPr/>
        </p:nvSpPr>
        <p:spPr>
          <a:xfrm>
            <a:off x="502920" y="6473952"/>
            <a:ext cx="11185855" cy="274320"/>
          </a:xfrm>
          <a:prstGeom prst="rect">
            <a:avLst/>
          </a:prstGeom>
          <a:noFill/>
        </p:spPr>
        <p:txBody>
          <a:bodyPr wrap="square" anchor="t" lIns="0" rIns="0" tIns="0" bIns="0">
            <a:spAutoFit/>
          </a:bodyPr>
          <a:lstStyle/>
          <a:p>
            <a:pPr algn="l"/>
            <a:r>
              <a:rPr sz="900" b="0" i="0">
                <a:solidFill>
                  <a:srgbClr val="52606D"/>
                </a:solidFill>
                <a:latin typeface="Calibri"/>
              </a:rPr>
              <a:t>The E-Waste Challenge</a:t>
            </a:r>
          </a:p>
        </p:txBody>
      </p:sp>
      <p:sp>
        <p:nvSpPr>
          <p:cNvPr id="10" name="TextBox 9"/>
          <p:cNvSpPr txBox="1"/>
          <p:nvPr/>
        </p:nvSpPr>
        <p:spPr>
          <a:xfrm>
            <a:off x="10591495" y="6473952"/>
            <a:ext cx="1097280" cy="274320"/>
          </a:xfrm>
          <a:prstGeom prst="rect">
            <a:avLst/>
          </a:prstGeom>
          <a:noFill/>
        </p:spPr>
        <p:txBody>
          <a:bodyPr wrap="square" anchor="t" lIns="0" rIns="0" tIns="0" bIns="0">
            <a:spAutoFit/>
          </a:bodyPr>
          <a:lstStyle/>
          <a:p>
            <a:pPr algn="r"/>
            <a:r>
              <a:rPr sz="900" b="0" i="0">
                <a:solidFill>
                  <a:srgbClr val="52606D"/>
                </a:solidFill>
                <a:latin typeface="Calibri"/>
              </a:rPr>
              <a:t>05 / 07</a:t>
            </a:r>
          </a:p>
        </p:txBody>
      </p:sp>
      <p:sp>
        <p:nvSpPr>
          <p:cNvPr id="11" name="Rectangle 10"/>
          <p:cNvSpPr/>
          <p:nvPr/>
        </p:nvSpPr>
        <p:spPr>
          <a:xfrm>
            <a:off x="502920" y="6355080"/>
            <a:ext cx="11185855" cy="12700"/>
          </a:xfrm>
          <a:prstGeom prst="rect">
            <a:avLst/>
          </a:prstGeom>
          <a:solidFill>
            <a:srgbClr val="ED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65760"/>
            <a:ext cx="11185855" cy="822960"/>
          </a:xfrm>
          <a:prstGeom prst="rect">
            <a:avLst/>
          </a:prstGeom>
          <a:noFill/>
        </p:spPr>
        <p:txBody>
          <a:bodyPr wrap="square" anchor="t" lIns="0" rIns="0" tIns="0" bIns="0">
            <a:spAutoFit/>
          </a:bodyPr>
          <a:lstStyle/>
          <a:p>
            <a:r>
              <a:rPr sz="2600" b="1" i="0">
                <a:solidFill>
                  <a:srgbClr val="14202E"/>
                </a:solidFill>
                <a:latin typeface="Georgia"/>
              </a:rPr>
              <a:t>Innovations in E-Waste Management</a:t>
            </a:r>
          </a:p>
        </p:txBody>
      </p:sp>
      <p:sp>
        <p:nvSpPr>
          <p:cNvPr id="3" name="Rounded Rectangle 2"/>
          <p:cNvSpPr/>
          <p:nvPr/>
        </p:nvSpPr>
        <p:spPr>
          <a:xfrm>
            <a:off x="502920" y="1234440"/>
            <a:ext cx="11185855" cy="4023360"/>
          </a:xfrm>
          <a:prstGeom prst="roundRect">
            <a:avLst/>
          </a:prstGeom>
          <a:solidFill>
            <a:srgbClr val="EDEFF3"/>
          </a:solidFill>
          <a:ln w="12700">
            <a:solidFill>
              <a:srgbClr val="2E5A8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52606D"/>
                </a:solidFill>
                <a:latin typeface="Calibri"/>
              </a:rPr>
              <a:t>robotic arm sorting electronic components for recycling in a modern facility</a:t>
            </a:r>
          </a:p>
        </p:txBody>
      </p:sp>
      <p:sp>
        <p:nvSpPr>
          <p:cNvPr id="4" name="TextBox 3"/>
          <p:cNvSpPr txBox="1"/>
          <p:nvPr/>
        </p:nvSpPr>
        <p:spPr>
          <a:xfrm>
            <a:off x="502920" y="5440680"/>
            <a:ext cx="11185855" cy="914400"/>
          </a:xfrm>
          <a:prstGeom prst="rect">
            <a:avLst/>
          </a:prstGeom>
          <a:noFill/>
        </p:spPr>
        <p:txBody>
          <a:bodyPr wrap="square" anchor="t" lIns="0" rIns="0" tIns="0" bIns="0">
            <a:spAutoFit/>
          </a:bodyPr>
          <a:lstStyle/>
          <a:p>
            <a:pPr>
              <a:spcAft>
                <a:spcPts val="1200"/>
              </a:spcAft>
            </a:pPr>
            <a:r>
              <a:rPr sz="1400" b="1" i="0">
                <a:solidFill>
                  <a:srgbClr val="1B3B6F"/>
                </a:solidFill>
                <a:latin typeface="Calibri"/>
              </a:rPr>
              <a:t>•  </a:t>
            </a:r>
            <a:r>
              <a:rPr sz="1400" b="0" i="0">
                <a:solidFill>
                  <a:srgbClr val="14202E"/>
                </a:solidFill>
                <a:latin typeface="Calibri"/>
              </a:rPr>
              <a:t>Advanced robotics and AI for automated sorting and precise component dismantling.</a:t>
            </a:r>
          </a:p>
          <a:p>
            <a:pPr>
              <a:spcAft>
                <a:spcPts val="1200"/>
              </a:spcAft>
            </a:pPr>
            <a:r>
              <a:rPr sz="1400" b="1" i="0">
                <a:solidFill>
                  <a:srgbClr val="1B3B6F"/>
                </a:solidFill>
                <a:latin typeface="Calibri"/>
              </a:rPr>
              <a:t>•  </a:t>
            </a:r>
            <a:r>
              <a:rPr sz="1400" b="0" i="0">
                <a:solidFill>
                  <a:srgbClr val="14202E"/>
                </a:solidFill>
                <a:latin typeface="Calibri"/>
              </a:rPr>
              <a:t>Hydrometallurgical and pyrometallurgical processes for efficient precious metal recovery.</a:t>
            </a:r>
          </a:p>
        </p:txBody>
      </p:sp>
      <p:sp>
        <p:nvSpPr>
          <p:cNvPr id="5" name="TextBox 4"/>
          <p:cNvSpPr txBox="1"/>
          <p:nvPr/>
        </p:nvSpPr>
        <p:spPr>
          <a:xfrm>
            <a:off x="502920" y="6473952"/>
            <a:ext cx="11185855" cy="274320"/>
          </a:xfrm>
          <a:prstGeom prst="rect">
            <a:avLst/>
          </a:prstGeom>
          <a:noFill/>
        </p:spPr>
        <p:txBody>
          <a:bodyPr wrap="square" anchor="t" lIns="0" rIns="0" tIns="0" bIns="0">
            <a:spAutoFit/>
          </a:bodyPr>
          <a:lstStyle/>
          <a:p>
            <a:pPr algn="l"/>
            <a:r>
              <a:rPr sz="900" b="0" i="0">
                <a:solidFill>
                  <a:srgbClr val="52606D"/>
                </a:solidFill>
                <a:latin typeface="Calibri"/>
              </a:rPr>
              <a:t>The E-Waste Challenge</a:t>
            </a:r>
          </a:p>
        </p:txBody>
      </p:sp>
      <p:sp>
        <p:nvSpPr>
          <p:cNvPr id="6" name="TextBox 5"/>
          <p:cNvSpPr txBox="1"/>
          <p:nvPr/>
        </p:nvSpPr>
        <p:spPr>
          <a:xfrm>
            <a:off x="10591495" y="6473952"/>
            <a:ext cx="1097280" cy="274320"/>
          </a:xfrm>
          <a:prstGeom prst="rect">
            <a:avLst/>
          </a:prstGeom>
          <a:noFill/>
        </p:spPr>
        <p:txBody>
          <a:bodyPr wrap="square" anchor="t" lIns="0" rIns="0" tIns="0" bIns="0">
            <a:spAutoFit/>
          </a:bodyPr>
          <a:lstStyle/>
          <a:p>
            <a:pPr algn="r"/>
            <a:r>
              <a:rPr sz="900" b="0" i="0">
                <a:solidFill>
                  <a:srgbClr val="52606D"/>
                </a:solidFill>
                <a:latin typeface="Calibri"/>
              </a:rPr>
              <a:t>06 / 07</a:t>
            </a:r>
          </a:p>
        </p:txBody>
      </p:sp>
      <p:sp>
        <p:nvSpPr>
          <p:cNvPr id="7" name="Rectangle 6"/>
          <p:cNvSpPr/>
          <p:nvPr/>
        </p:nvSpPr>
        <p:spPr>
          <a:xfrm>
            <a:off x="502920" y="6355080"/>
            <a:ext cx="11185855" cy="12700"/>
          </a:xfrm>
          <a:prstGeom prst="rect">
            <a:avLst/>
          </a:prstGeom>
          <a:solidFill>
            <a:srgbClr val="ED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411480"/>
            <a:ext cx="11185855" cy="822960"/>
          </a:xfrm>
          <a:prstGeom prst="rect">
            <a:avLst/>
          </a:prstGeom>
          <a:noFill/>
        </p:spPr>
        <p:txBody>
          <a:bodyPr wrap="square" anchor="t" lIns="0" rIns="0" tIns="0" bIns="0">
            <a:spAutoFit/>
          </a:bodyPr>
          <a:lstStyle/>
          <a:p>
            <a:r>
              <a:rPr sz="2600" b="1" i="0">
                <a:solidFill>
                  <a:srgbClr val="14202E"/>
                </a:solidFill>
                <a:latin typeface="Georgia"/>
              </a:rPr>
              <a:t>References</a:t>
            </a:r>
          </a:p>
        </p:txBody>
      </p:sp>
      <p:sp>
        <p:nvSpPr>
          <p:cNvPr id="3" name="TextBox 2"/>
          <p:cNvSpPr txBox="1"/>
          <p:nvPr/>
        </p:nvSpPr>
        <p:spPr>
          <a:xfrm>
            <a:off x="502920" y="1463040"/>
            <a:ext cx="11185855" cy="4846320"/>
          </a:xfrm>
          <a:prstGeom prst="rect">
            <a:avLst/>
          </a:prstGeom>
          <a:noFill/>
        </p:spPr>
        <p:txBody>
          <a:bodyPr wrap="square" anchor="t" lIns="0" rIns="0" tIns="0" bIns="0">
            <a:spAutoFit/>
          </a:bodyPr>
          <a:lstStyle/>
          <a:p>
            <a:pPr>
              <a:spcAft>
                <a:spcPts val="1200"/>
              </a:spcAft>
            </a:pPr>
            <a:r>
              <a:rPr sz="1400" b="1" i="0">
                <a:solidFill>
                  <a:srgbClr val="1B3B6F"/>
                </a:solidFill>
                <a:latin typeface="Calibri"/>
              </a:rPr>
              <a:t>•  </a:t>
            </a:r>
            <a:r>
              <a:rPr sz="1400" b="0" i="0">
                <a:solidFill>
                  <a:srgbClr val="14202E"/>
                </a:solidFill>
                <a:latin typeface="Calibri"/>
              </a:rPr>
              <a:t>Global E-waste Monitor 2020: Quantities, flows and the circular economy potential â€” United Nations University (UNU), UNITAR, ITU, ISWA</a:t>
            </a:r>
          </a:p>
          <a:p>
            <a:pPr>
              <a:spcAft>
                <a:spcPts val="1200"/>
              </a:spcAft>
            </a:pPr>
            <a:r>
              <a:rPr sz="1400" b="1" i="0">
                <a:solidFill>
                  <a:srgbClr val="1B3B6F"/>
                </a:solidFill>
                <a:latin typeface="Calibri"/>
              </a:rPr>
              <a:t>•  </a:t>
            </a:r>
            <a:r>
              <a:rPr sz="1400" b="0" i="0">
                <a:solidFill>
                  <a:srgbClr val="14202E"/>
                </a:solidFill>
                <a:latin typeface="Calibri"/>
              </a:rPr>
              <a:t>The Circular Economy Action Plan â€” European Commission</a:t>
            </a:r>
          </a:p>
          <a:p>
            <a:pPr>
              <a:spcAft>
                <a:spcPts val="1200"/>
              </a:spcAft>
            </a:pPr>
            <a:r>
              <a:rPr sz="1400" b="1" i="0">
                <a:solidFill>
                  <a:srgbClr val="1B3B6F"/>
                </a:solidFill>
                <a:latin typeface="Calibri"/>
              </a:rPr>
              <a:t>•  </a:t>
            </a:r>
            <a:r>
              <a:rPr sz="1400" b="0" i="0">
                <a:solidFill>
                  <a:srgbClr val="14202E"/>
                </a:solidFill>
                <a:latin typeface="Calibri"/>
              </a:rPr>
              <a:t>Basel Convention on the Control of Transboundary Movements of Hazardous Wastes and their Disposal â€” United Nations Environment Programme (UNEP)</a:t>
            </a:r>
          </a:p>
          <a:p>
            <a:pPr>
              <a:spcAft>
                <a:spcPts val="1200"/>
              </a:spcAft>
            </a:pPr>
            <a:r>
              <a:rPr sz="1400" b="1" i="0">
                <a:solidFill>
                  <a:srgbClr val="1B3B6F"/>
                </a:solidFill>
                <a:latin typeface="Calibri"/>
              </a:rPr>
              <a:t>•  </a:t>
            </a:r>
            <a:r>
              <a:rPr sz="1400" b="0" i="0">
                <a:solidFill>
                  <a:srgbClr val="14202E"/>
                </a:solidFill>
                <a:latin typeface="Calibri"/>
              </a:rPr>
              <a:t>E-Waste: The global crisis of electronic waste â€” World Health Organization (WHO)</a:t>
            </a:r>
          </a:p>
        </p:txBody>
      </p:sp>
      <p:sp>
        <p:nvSpPr>
          <p:cNvPr id="4" name="TextBox 3"/>
          <p:cNvSpPr txBox="1"/>
          <p:nvPr/>
        </p:nvSpPr>
        <p:spPr>
          <a:xfrm>
            <a:off x="502920" y="6473952"/>
            <a:ext cx="11185855" cy="274320"/>
          </a:xfrm>
          <a:prstGeom prst="rect">
            <a:avLst/>
          </a:prstGeom>
          <a:noFill/>
        </p:spPr>
        <p:txBody>
          <a:bodyPr wrap="square" anchor="t" lIns="0" rIns="0" tIns="0" bIns="0">
            <a:spAutoFit/>
          </a:bodyPr>
          <a:lstStyle/>
          <a:p>
            <a:pPr algn="l"/>
            <a:r>
              <a:rPr sz="900" b="0" i="0">
                <a:solidFill>
                  <a:srgbClr val="52606D"/>
                </a:solidFill>
                <a:latin typeface="Calibri"/>
              </a:rPr>
              <a:t>The E-Waste Challenge</a:t>
            </a:r>
          </a:p>
        </p:txBody>
      </p:sp>
      <p:sp>
        <p:nvSpPr>
          <p:cNvPr id="5" name="TextBox 4"/>
          <p:cNvSpPr txBox="1"/>
          <p:nvPr/>
        </p:nvSpPr>
        <p:spPr>
          <a:xfrm>
            <a:off x="10591495" y="6473952"/>
            <a:ext cx="1097280" cy="274320"/>
          </a:xfrm>
          <a:prstGeom prst="rect">
            <a:avLst/>
          </a:prstGeom>
          <a:noFill/>
        </p:spPr>
        <p:txBody>
          <a:bodyPr wrap="square" anchor="t" lIns="0" rIns="0" tIns="0" bIns="0">
            <a:spAutoFit/>
          </a:bodyPr>
          <a:lstStyle/>
          <a:p>
            <a:pPr algn="r"/>
            <a:r>
              <a:rPr sz="900" b="0" i="0">
                <a:solidFill>
                  <a:srgbClr val="52606D"/>
                </a:solidFill>
                <a:latin typeface="Calibri"/>
              </a:rPr>
              <a:t>07 / 07</a:t>
            </a:r>
          </a:p>
        </p:txBody>
      </p:sp>
      <p:sp>
        <p:nvSpPr>
          <p:cNvPr id="6" name="Rectangle 5"/>
          <p:cNvSpPr/>
          <p:nvPr/>
        </p:nvSpPr>
        <p:spPr>
          <a:xfrm>
            <a:off x="502920" y="6355080"/>
            <a:ext cx="11185855" cy="12700"/>
          </a:xfrm>
          <a:prstGeom prst="rect">
            <a:avLst/>
          </a:prstGeom>
          <a:solidFill>
            <a:srgbClr val="EDEF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